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80" y="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7772400" cy="393192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A623"/>
                </a:solidFill>
                <a:latin typeface="Calibri Light"/>
              </a:rPr>
              <a:t>WealthPulse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Your Complete Financial Command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D880"/>
                </a:solidFill>
                <a:latin typeface="Calibri"/>
              </a:rPr>
              <a:t>Track every rupee. Grow every asset. Own your future.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5900" y="3840480"/>
            <a:ext cx="755715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Seed Round Investment Opportunity</a:t>
            </a:r>
          </a:p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Personal Finance &amp; Wealth Management  |  India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651760" cy="41148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011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  <a:latin typeface="Calibri"/>
              </a:rPr>
              <a:t>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103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Asset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7889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API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  <a:latin typeface="Calibr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657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SMS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343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  <a:latin typeface="Calibr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Market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India's Investors Are Flying Blind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41732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77840" cy="210312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91440" cy="2103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💸  Fragmented Wealth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Stocks in Zerodha, mutual funds in CAMS, gold in a locker, EMIs in a spreadsheet. No single view of true net worth.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577840" cy="210312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91440" cy="2103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📉  No Growth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Investors can't see which assets are growing, which are dragging — making rebalancing guesswork.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5577840" cy="210312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91440" cy="2103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11479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🧾  Manual Expense Chaos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199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Tracking daily spends requires manual data entry. SMS alerts are ignored, money leaks unnoticed.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77639"/>
            <a:ext cx="5577840" cy="210312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977639"/>
            <a:ext cx="91440" cy="2103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11479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📊  Zero Projections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7199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tool tells an Indian retail investor: "At your current pace, your net worth will be ₹X in 5 years."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WealthPulse — One App for Your Entire Financial Life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41732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D880"/>
                </a:solidFill>
                <a:latin typeface="Calibri"/>
              </a:rPr>
              <a:t>A native Android wealth management platform that automatically aggregates, tracks, and projects every financial asset and liability — powered by live market data and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86000"/>
            <a:ext cx="2743200" cy="35661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Aggregate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Connect stocks, mutual funds, gold, real estate, and loans in one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286000"/>
            <a:ext cx="2743200" cy="35661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228600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2487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204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Live prices, day P&amp;L, CAGR per asset class — updated during market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86000"/>
            <a:ext cx="2743200" cy="35661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28600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487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Automate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2044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Calibri"/>
              </a:rPr>
              <a:t>AI-powered SMS parsing auto-captures every bank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2286000"/>
            <a:ext cx="2743200" cy="35661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228600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2487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5204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5-year net worth projections with CAGR-based growth forecasts per asset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Feature-Complete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Net Worth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Real-time aggregation of all assets &amp; liabilities with 5Y projection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23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Stocks (Zerodha OAuth)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077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Live holdings sync via Kite Connect API — P&amp;L, CAGR 1Y/3Y/5Y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4838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Mutual Funds (CAS Import)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PDF parsing → AMFI NAV sync → XIRR return calculation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43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Gold &amp; 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28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Live MCX rates, quantity tracking by purity (24K/22K)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4041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Physical 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88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Real estate &amp; vehicles with WDV depreciation calculations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50876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563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Liabilities &amp; Loans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19476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EMI calculation, principal balance, payoff projections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46888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5080" y="246888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523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AI Expense Auto-Capture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9077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Bank SMS → Claude AI → categorised transaction, automatic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42900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342900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4838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Transaction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867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Income/expense CRUD with custom categories, sources, recipients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38912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438912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4443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Growth Projections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28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Per-class CAGR model → full 1Y / 3Y / 5Y net worth forecast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5349240"/>
            <a:ext cx="5669280" cy="850392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55080" y="5349240"/>
            <a:ext cx="64008" cy="850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54041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✓  Cron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788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Market sync, daily snapshots, weekly CAGR recalc — all scheduled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Modern, Scalable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743200" cy="41148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743200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Android App (Kotlin)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3172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MVVM · Hilt DI · Retrofit
Room DB · WorkManager
MPAndroidChart · Coroutines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43200" cy="41148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554480"/>
            <a:ext cx="2743200" cy="1371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REST API (Node.js)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3172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Express.js 5 · 21 Modules
JWT Sessions · Middleware
PDF &amp; SMS Parsers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554480"/>
            <a:ext cx="2743200" cy="41148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554480"/>
            <a:ext cx="2743200" cy="1371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  <a:latin typeface="Calibri"/>
              </a:rPr>
              <a:t>Database (Supabase)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33172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PostgreSQL · PgBouncer
Snapshots · CAGR Cache
Metal Rates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743200" cy="41148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554480"/>
            <a:ext cx="2743200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08008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External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33172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Zerodha Kite Connect
AMFI · Yahoo Finance
Claude AI · MCX Rates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291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291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291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97880"/>
            <a:ext cx="11521440" cy="594360"/>
          </a:xfrm>
          <a:prstGeom prst="rect">
            <a:avLst/>
          </a:prstGeom>
          <a:solidFill>
            <a:srgbClr val="33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🚀  Deployed:  Backend on Render.com  |  Database on Supabase  |  Android App (dev-ready for Play Store)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$1.5T Market — Underserved by Digital Wealth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192024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Calibri"/>
              </a:rPr>
              <a:t>50M+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Retail investors
in India (2026)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508760"/>
            <a:ext cx="2743200" cy="192024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6459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BC9C"/>
                </a:solidFill>
                <a:latin typeface="Calibri"/>
              </a:rPr>
              <a:t>₹50 Lakh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Equity AUM in
Indian markets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2743200" cy="192024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  <a:latin typeface="Calibri"/>
              </a:rPr>
              <a:t>8×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Demat accounts
in 5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508760"/>
            <a:ext cx="2743200" cy="192024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6459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74C3C"/>
                </a:solidFill>
                <a:latin typeface="Calibri"/>
              </a:rPr>
              <a:t>$6B+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23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India Fintech
funding in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Why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📱  India has 700M+ smartphones; mobile-first finance is the default for Gen Z &amp; Millennials.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📈  Post-COVID DIY investing surge — millions managing their own portfolios for the first time.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🏦  Zerodha alone has 14M active users; no integrated wealth tracker serves them natively.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🤖  AI (LLMs) now makes automated transaction parsing viable at near-zero marginal cost.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📋  SEBI's push for financial literacy creates policy tailwind for wealth management apps.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TRACTION &amp;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MVP Built. Backend Live. Ready to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Full-stack MVP with 10 screens and 21 backend API modules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Zerodha (India's #1 broker) OAuth integration live and tested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AI-powered SMS expense capture (Claude API) working end-to-end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CAS PDF import for mutual funds fully operational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Real-time gold/silver rates, stock prices, AMFI NAV sync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5-year net worth projection engine with per-asset CAGR model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Automated cron jobs: daily snapshots, market sync, weekly CAGR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Backend deployed on Render · Database live on Supabase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417320"/>
            <a:ext cx="4023360" cy="50292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MILESTONES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057400"/>
            <a:ext cx="73152" cy="45720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075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C"/>
                </a:solidFill>
                <a:latin typeface="Calibri"/>
              </a:rPr>
              <a:t>Q3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0756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Architecture design &amp; DB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15768"/>
            <a:ext cx="73152" cy="45720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7340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C"/>
                </a:solidFill>
                <a:latin typeface="Calibri"/>
              </a:rPr>
              <a:t>Q4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73405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Core modules: Auth, Transactions, Stocks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3374136"/>
            <a:ext cx="73152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3392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Q1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39242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Zerodha OAuth, Mutual Funds, Metals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4032504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050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Calibri"/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0507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Net Worth projections + AI SMS ✓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690872"/>
            <a:ext cx="73152" cy="457200"/>
          </a:xfrm>
          <a:prstGeom prst="rect">
            <a:avLst/>
          </a:prstGeom>
          <a:solidFill>
            <a:srgbClr val="FFD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4709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880"/>
                </a:solidFill>
                <a:latin typeface="Calibri"/>
              </a:rPr>
              <a:t>Q2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709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Play Store launch + beta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5349240"/>
            <a:ext cx="73152" cy="457200"/>
          </a:xfrm>
          <a:prstGeom prst="rect">
            <a:avLst/>
          </a:prstGeom>
          <a:solidFill>
            <a:srgbClr val="FFD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5367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880"/>
                </a:solidFill>
                <a:latin typeface="Calibri"/>
              </a:rPr>
              <a:t>Q3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675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Premium tier + monetisation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Multiple Revenue Streams on a SaaS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749039" cy="21945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749039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💎  Premium Subscriptions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₹199–499/month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Advanced analytics, tax reports (LTCG), portfolio rebalancing alerts, export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508760"/>
            <a:ext cx="3749039" cy="21945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3749039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709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🤝  Brokerage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Revenue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Affiliate commissions from Zerodha, Groww, Kuvera — referral on new account opens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508760"/>
            <a:ext cx="3749039" cy="21945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508760"/>
            <a:ext cx="3749039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09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🏢  Enterprise / Family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₹999+/month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Multi-user household wealth tracking, shared dashboards, wealth advisor portal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86200"/>
            <a:ext cx="3749039" cy="21945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3749039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087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  <a:latin typeface="Calibri"/>
              </a:rPr>
              <a:t>📊  Advisory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Commission-based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In-app SEBI RIA consultation booking, premium investment reports, goal planning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886200"/>
            <a:ext cx="3749039" cy="21945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1960" y="3886200"/>
            <a:ext cx="3749039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087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📱  White-label SDK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526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B2B Licensing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8920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Net worth &amp; portfolio engine licensed to banks, NBFCs, and insurance platforms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886200"/>
            <a:ext cx="3749039" cy="21945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3880" y="3886200"/>
            <a:ext cx="3749039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4087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🔑  API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526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Usage-based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920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Wealth data API for fintech developers — CAGR engine, SMS parser, CAS importer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We Do What No One Else Does —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6332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9 / 12</a:t>
            </a:r>
          </a:p>
        </p:txBody>
      </p:sp>
      <p:sp>
        <p:nvSpPr>
          <p:cNvPr id="200" name="Rect 200"/>
          <p:cNvSpPr/>
          <p:nvPr/>
        </p:nvSpPr>
        <p:spPr>
          <a:xfrm>
            <a:off x="279400" y="1460500"/>
            <a:ext cx="24130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Txt 201"/>
          <p:cNvSpPr txBox="1"/>
          <p:nvPr/>
        </p:nvSpPr>
        <p:spPr>
          <a:xfrm>
            <a:off x="317500" y="1511300"/>
            <a:ext cx="23368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000" b="1" i="0" dirty="0">
                <a:solidFill>
                  <a:srgbClr val="B0B8CC"/>
                </a:solidFill>
                <a:latin typeface="Calibri"/>
              </a:rPr>
              <a:t>Feature</a:t>
            </a:r>
          </a:p>
        </p:txBody>
      </p:sp>
      <p:sp>
        <p:nvSpPr>
          <p:cNvPr id="202" name="Rect 202"/>
          <p:cNvSpPr/>
          <p:nvPr/>
        </p:nvSpPr>
        <p:spPr>
          <a:xfrm>
            <a:off x="2692400" y="1460500"/>
            <a:ext cx="1206500" cy="4572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xt 203"/>
          <p:cNvSpPr txBox="1"/>
          <p:nvPr/>
        </p:nvSpPr>
        <p:spPr>
          <a:xfrm>
            <a:off x="27178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0D1B3E"/>
                </a:solidFill>
                <a:latin typeface="Calibri"/>
              </a:rPr>
              <a:t>WealthPulse</a:t>
            </a:r>
          </a:p>
        </p:txBody>
      </p:sp>
      <p:sp>
        <p:nvSpPr>
          <p:cNvPr id="204" name="Rect 204"/>
          <p:cNvSpPr/>
          <p:nvPr/>
        </p:nvSpPr>
        <p:spPr>
          <a:xfrm>
            <a:off x="3898900" y="1460500"/>
            <a:ext cx="12065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xt 205"/>
          <p:cNvSpPr txBox="1"/>
          <p:nvPr/>
        </p:nvSpPr>
        <p:spPr>
          <a:xfrm>
            <a:off x="39243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B0B8CC"/>
                </a:solidFill>
                <a:latin typeface="Calibri"/>
              </a:rPr>
              <a:t>Zerodha Kite</a:t>
            </a:r>
          </a:p>
        </p:txBody>
      </p:sp>
      <p:sp>
        <p:nvSpPr>
          <p:cNvPr id="206" name="Rect 206"/>
          <p:cNvSpPr/>
          <p:nvPr/>
        </p:nvSpPr>
        <p:spPr>
          <a:xfrm>
            <a:off x="5105400" y="1460500"/>
            <a:ext cx="12065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xt 207"/>
          <p:cNvSpPr txBox="1"/>
          <p:nvPr/>
        </p:nvSpPr>
        <p:spPr>
          <a:xfrm>
            <a:off x="51308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B0B8CC"/>
                </a:solidFill>
                <a:latin typeface="Calibri"/>
              </a:rPr>
              <a:t>ET Money</a:t>
            </a:r>
          </a:p>
        </p:txBody>
      </p:sp>
      <p:sp>
        <p:nvSpPr>
          <p:cNvPr id="208" name="Rect 208"/>
          <p:cNvSpPr/>
          <p:nvPr/>
        </p:nvSpPr>
        <p:spPr>
          <a:xfrm>
            <a:off x="6311900" y="1460500"/>
            <a:ext cx="12065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Txt 209"/>
          <p:cNvSpPr txBox="1"/>
          <p:nvPr/>
        </p:nvSpPr>
        <p:spPr>
          <a:xfrm>
            <a:off x="63373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B0B8CC"/>
                </a:solidFill>
                <a:latin typeface="Calibri"/>
              </a:rPr>
              <a:t>Paytm Money</a:t>
            </a:r>
          </a:p>
        </p:txBody>
      </p:sp>
      <p:sp>
        <p:nvSpPr>
          <p:cNvPr id="210" name="Rect 210"/>
          <p:cNvSpPr/>
          <p:nvPr/>
        </p:nvSpPr>
        <p:spPr>
          <a:xfrm>
            <a:off x="7518400" y="1460500"/>
            <a:ext cx="12065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Txt 211"/>
          <p:cNvSpPr txBox="1"/>
          <p:nvPr/>
        </p:nvSpPr>
        <p:spPr>
          <a:xfrm>
            <a:off x="75438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B0B8CC"/>
                </a:solidFill>
                <a:latin typeface="Calibri"/>
              </a:rPr>
              <a:t>Groww</a:t>
            </a:r>
          </a:p>
        </p:txBody>
      </p:sp>
      <p:sp>
        <p:nvSpPr>
          <p:cNvPr id="212" name="Rect 212"/>
          <p:cNvSpPr/>
          <p:nvPr/>
        </p:nvSpPr>
        <p:spPr>
          <a:xfrm>
            <a:off x="8724900" y="1460500"/>
            <a:ext cx="12065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Txt 213"/>
          <p:cNvSpPr txBox="1"/>
          <p:nvPr/>
        </p:nvSpPr>
        <p:spPr>
          <a:xfrm>
            <a:off x="87503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B0B8CC"/>
                </a:solidFill>
                <a:latin typeface="Calibri"/>
              </a:rPr>
              <a:t>CRED</a:t>
            </a:r>
          </a:p>
        </p:txBody>
      </p:sp>
      <p:sp>
        <p:nvSpPr>
          <p:cNvPr id="214" name="Rect 214"/>
          <p:cNvSpPr/>
          <p:nvPr/>
        </p:nvSpPr>
        <p:spPr>
          <a:xfrm>
            <a:off x="9931400" y="1460500"/>
            <a:ext cx="1206500" cy="45720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Txt 215"/>
          <p:cNvSpPr txBox="1"/>
          <p:nvPr/>
        </p:nvSpPr>
        <p:spPr>
          <a:xfrm>
            <a:off x="9956800" y="1511300"/>
            <a:ext cx="11557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900" b="1" i="0" dirty="0">
                <a:solidFill>
                  <a:srgbClr val="B0B8CC"/>
                </a:solidFill>
                <a:latin typeface="Calibri"/>
              </a:rPr>
              <a:t>AXIO</a:t>
            </a:r>
          </a:p>
        </p:txBody>
      </p:sp>
      <p:sp>
        <p:nvSpPr>
          <p:cNvPr id="216" name="Rect 216"/>
          <p:cNvSpPr/>
          <p:nvPr/>
        </p:nvSpPr>
        <p:spPr>
          <a:xfrm>
            <a:off x="279400" y="1968500"/>
            <a:ext cx="24130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Txt 217"/>
          <p:cNvSpPr txBox="1"/>
          <p:nvPr/>
        </p:nvSpPr>
        <p:spPr>
          <a:xfrm>
            <a:off x="317500" y="20320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Stocks (Live Holdings)</a:t>
            </a:r>
          </a:p>
        </p:txBody>
      </p:sp>
      <p:sp>
        <p:nvSpPr>
          <p:cNvPr id="218" name="Rect 218"/>
          <p:cNvSpPr/>
          <p:nvPr/>
        </p:nvSpPr>
        <p:spPr>
          <a:xfrm>
            <a:off x="26924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Txt 219"/>
          <p:cNvSpPr txBox="1"/>
          <p:nvPr/>
        </p:nvSpPr>
        <p:spPr>
          <a:xfrm>
            <a:off x="27178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20" name="Rect 220"/>
          <p:cNvSpPr/>
          <p:nvPr/>
        </p:nvSpPr>
        <p:spPr>
          <a:xfrm>
            <a:off x="38989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Txt 221"/>
          <p:cNvSpPr txBox="1"/>
          <p:nvPr/>
        </p:nvSpPr>
        <p:spPr>
          <a:xfrm>
            <a:off x="39243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22" name="Rect 222"/>
          <p:cNvSpPr/>
          <p:nvPr/>
        </p:nvSpPr>
        <p:spPr>
          <a:xfrm>
            <a:off x="51054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Txt 223"/>
          <p:cNvSpPr txBox="1"/>
          <p:nvPr/>
        </p:nvSpPr>
        <p:spPr>
          <a:xfrm>
            <a:off x="51308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24" name="Rect 224"/>
          <p:cNvSpPr/>
          <p:nvPr/>
        </p:nvSpPr>
        <p:spPr>
          <a:xfrm>
            <a:off x="63119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Txt 225"/>
          <p:cNvSpPr txBox="1"/>
          <p:nvPr/>
        </p:nvSpPr>
        <p:spPr>
          <a:xfrm>
            <a:off x="63373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26" name="Rect 226"/>
          <p:cNvSpPr/>
          <p:nvPr/>
        </p:nvSpPr>
        <p:spPr>
          <a:xfrm>
            <a:off x="75184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7" name="Txt 227"/>
          <p:cNvSpPr txBox="1"/>
          <p:nvPr/>
        </p:nvSpPr>
        <p:spPr>
          <a:xfrm>
            <a:off x="75438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28" name="Rect 228"/>
          <p:cNvSpPr/>
          <p:nvPr/>
        </p:nvSpPr>
        <p:spPr>
          <a:xfrm>
            <a:off x="87249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9" name="Txt 229"/>
          <p:cNvSpPr txBox="1"/>
          <p:nvPr/>
        </p:nvSpPr>
        <p:spPr>
          <a:xfrm>
            <a:off x="87503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30" name="Rect 230"/>
          <p:cNvSpPr/>
          <p:nvPr/>
        </p:nvSpPr>
        <p:spPr>
          <a:xfrm>
            <a:off x="9931400" y="19685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1" name="Txt 231"/>
          <p:cNvSpPr txBox="1"/>
          <p:nvPr/>
        </p:nvSpPr>
        <p:spPr>
          <a:xfrm>
            <a:off x="9956800" y="20320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32" name="Rect 232"/>
          <p:cNvSpPr/>
          <p:nvPr/>
        </p:nvSpPr>
        <p:spPr>
          <a:xfrm>
            <a:off x="279400" y="2514600"/>
            <a:ext cx="24130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3" name="Txt 233"/>
          <p:cNvSpPr txBox="1"/>
          <p:nvPr/>
        </p:nvSpPr>
        <p:spPr>
          <a:xfrm>
            <a:off x="317500" y="25781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Mutual Funds (CAS Import)</a:t>
            </a:r>
          </a:p>
        </p:txBody>
      </p:sp>
      <p:sp>
        <p:nvSpPr>
          <p:cNvPr id="234" name="Rect 234"/>
          <p:cNvSpPr/>
          <p:nvPr/>
        </p:nvSpPr>
        <p:spPr>
          <a:xfrm>
            <a:off x="26924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5" name="Txt 235"/>
          <p:cNvSpPr txBox="1"/>
          <p:nvPr/>
        </p:nvSpPr>
        <p:spPr>
          <a:xfrm>
            <a:off x="27178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36" name="Rect 236"/>
          <p:cNvSpPr/>
          <p:nvPr/>
        </p:nvSpPr>
        <p:spPr>
          <a:xfrm>
            <a:off x="38989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7" name="Txt 237"/>
          <p:cNvSpPr txBox="1"/>
          <p:nvPr/>
        </p:nvSpPr>
        <p:spPr>
          <a:xfrm>
            <a:off x="39243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38" name="Rect 238"/>
          <p:cNvSpPr/>
          <p:nvPr/>
        </p:nvSpPr>
        <p:spPr>
          <a:xfrm>
            <a:off x="51054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9" name="Txt 239"/>
          <p:cNvSpPr txBox="1"/>
          <p:nvPr/>
        </p:nvSpPr>
        <p:spPr>
          <a:xfrm>
            <a:off x="51308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40" name="Rect 240"/>
          <p:cNvSpPr/>
          <p:nvPr/>
        </p:nvSpPr>
        <p:spPr>
          <a:xfrm>
            <a:off x="63119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1" name="Txt 241"/>
          <p:cNvSpPr txBox="1"/>
          <p:nvPr/>
        </p:nvSpPr>
        <p:spPr>
          <a:xfrm>
            <a:off x="63373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42" name="Rect 242"/>
          <p:cNvSpPr/>
          <p:nvPr/>
        </p:nvSpPr>
        <p:spPr>
          <a:xfrm>
            <a:off x="75184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Txt 243"/>
          <p:cNvSpPr txBox="1"/>
          <p:nvPr/>
        </p:nvSpPr>
        <p:spPr>
          <a:xfrm>
            <a:off x="75438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44" name="Rect 244"/>
          <p:cNvSpPr/>
          <p:nvPr/>
        </p:nvSpPr>
        <p:spPr>
          <a:xfrm>
            <a:off x="87249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5" name="Txt 245"/>
          <p:cNvSpPr txBox="1"/>
          <p:nvPr/>
        </p:nvSpPr>
        <p:spPr>
          <a:xfrm>
            <a:off x="87503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46" name="Rect 246"/>
          <p:cNvSpPr/>
          <p:nvPr/>
        </p:nvSpPr>
        <p:spPr>
          <a:xfrm>
            <a:off x="9931400" y="25146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7" name="Txt 247"/>
          <p:cNvSpPr txBox="1"/>
          <p:nvPr/>
        </p:nvSpPr>
        <p:spPr>
          <a:xfrm>
            <a:off x="9956800" y="25781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48" name="Rect 248"/>
          <p:cNvSpPr/>
          <p:nvPr/>
        </p:nvSpPr>
        <p:spPr>
          <a:xfrm>
            <a:off x="279400" y="3060700"/>
            <a:ext cx="24130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9" name="Txt 249"/>
          <p:cNvSpPr txBox="1"/>
          <p:nvPr/>
        </p:nvSpPr>
        <p:spPr>
          <a:xfrm>
            <a:off x="317500" y="31242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Gold &amp; Silver Tracking</a:t>
            </a:r>
          </a:p>
        </p:txBody>
      </p:sp>
      <p:sp>
        <p:nvSpPr>
          <p:cNvPr id="250" name="Rect 250"/>
          <p:cNvSpPr/>
          <p:nvPr/>
        </p:nvSpPr>
        <p:spPr>
          <a:xfrm>
            <a:off x="26924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1" name="Txt 251"/>
          <p:cNvSpPr txBox="1"/>
          <p:nvPr/>
        </p:nvSpPr>
        <p:spPr>
          <a:xfrm>
            <a:off x="27178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52" name="Rect 252"/>
          <p:cNvSpPr/>
          <p:nvPr/>
        </p:nvSpPr>
        <p:spPr>
          <a:xfrm>
            <a:off x="38989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3" name="Txt 253"/>
          <p:cNvSpPr txBox="1"/>
          <p:nvPr/>
        </p:nvSpPr>
        <p:spPr>
          <a:xfrm>
            <a:off x="39243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54" name="Rect 254"/>
          <p:cNvSpPr/>
          <p:nvPr/>
        </p:nvSpPr>
        <p:spPr>
          <a:xfrm>
            <a:off x="51054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5" name="Txt 255"/>
          <p:cNvSpPr txBox="1"/>
          <p:nvPr/>
        </p:nvSpPr>
        <p:spPr>
          <a:xfrm>
            <a:off x="51308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56" name="Rect 256"/>
          <p:cNvSpPr/>
          <p:nvPr/>
        </p:nvSpPr>
        <p:spPr>
          <a:xfrm>
            <a:off x="63119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7" name="Txt 257"/>
          <p:cNvSpPr txBox="1"/>
          <p:nvPr/>
        </p:nvSpPr>
        <p:spPr>
          <a:xfrm>
            <a:off x="63373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58" name="Rect 258"/>
          <p:cNvSpPr/>
          <p:nvPr/>
        </p:nvSpPr>
        <p:spPr>
          <a:xfrm>
            <a:off x="75184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9" name="Txt 259"/>
          <p:cNvSpPr txBox="1"/>
          <p:nvPr/>
        </p:nvSpPr>
        <p:spPr>
          <a:xfrm>
            <a:off x="75438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60" name="Rect 260"/>
          <p:cNvSpPr/>
          <p:nvPr/>
        </p:nvSpPr>
        <p:spPr>
          <a:xfrm>
            <a:off x="87249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" name="Txt 261"/>
          <p:cNvSpPr txBox="1"/>
          <p:nvPr/>
        </p:nvSpPr>
        <p:spPr>
          <a:xfrm>
            <a:off x="87503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62" name="Rect 262"/>
          <p:cNvSpPr/>
          <p:nvPr/>
        </p:nvSpPr>
        <p:spPr>
          <a:xfrm>
            <a:off x="9931400" y="30607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3" name="Txt 263"/>
          <p:cNvSpPr txBox="1"/>
          <p:nvPr/>
        </p:nvSpPr>
        <p:spPr>
          <a:xfrm>
            <a:off x="9956800" y="31242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64" name="Rect 264"/>
          <p:cNvSpPr/>
          <p:nvPr/>
        </p:nvSpPr>
        <p:spPr>
          <a:xfrm>
            <a:off x="279400" y="3606800"/>
            <a:ext cx="24130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5" name="Txt 265"/>
          <p:cNvSpPr txBox="1"/>
          <p:nvPr/>
        </p:nvSpPr>
        <p:spPr>
          <a:xfrm>
            <a:off x="317500" y="36703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Physical Assets / Real Estate</a:t>
            </a:r>
          </a:p>
        </p:txBody>
      </p:sp>
      <p:sp>
        <p:nvSpPr>
          <p:cNvPr id="266" name="Rect 266"/>
          <p:cNvSpPr/>
          <p:nvPr/>
        </p:nvSpPr>
        <p:spPr>
          <a:xfrm>
            <a:off x="26924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7" name="Txt 267"/>
          <p:cNvSpPr txBox="1"/>
          <p:nvPr/>
        </p:nvSpPr>
        <p:spPr>
          <a:xfrm>
            <a:off x="27178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68" name="Rect 268"/>
          <p:cNvSpPr/>
          <p:nvPr/>
        </p:nvSpPr>
        <p:spPr>
          <a:xfrm>
            <a:off x="38989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9" name="Txt 269"/>
          <p:cNvSpPr txBox="1"/>
          <p:nvPr/>
        </p:nvSpPr>
        <p:spPr>
          <a:xfrm>
            <a:off x="39243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70" name="Rect 270"/>
          <p:cNvSpPr/>
          <p:nvPr/>
        </p:nvSpPr>
        <p:spPr>
          <a:xfrm>
            <a:off x="51054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1" name="Txt 271"/>
          <p:cNvSpPr txBox="1"/>
          <p:nvPr/>
        </p:nvSpPr>
        <p:spPr>
          <a:xfrm>
            <a:off x="51308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72" name="Rect 272"/>
          <p:cNvSpPr/>
          <p:nvPr/>
        </p:nvSpPr>
        <p:spPr>
          <a:xfrm>
            <a:off x="63119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3" name="Txt 273"/>
          <p:cNvSpPr txBox="1"/>
          <p:nvPr/>
        </p:nvSpPr>
        <p:spPr>
          <a:xfrm>
            <a:off x="63373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74" name="Rect 274"/>
          <p:cNvSpPr/>
          <p:nvPr/>
        </p:nvSpPr>
        <p:spPr>
          <a:xfrm>
            <a:off x="75184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5" name="Txt 275"/>
          <p:cNvSpPr txBox="1"/>
          <p:nvPr/>
        </p:nvSpPr>
        <p:spPr>
          <a:xfrm>
            <a:off x="75438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76" name="Rect 276"/>
          <p:cNvSpPr/>
          <p:nvPr/>
        </p:nvSpPr>
        <p:spPr>
          <a:xfrm>
            <a:off x="87249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7" name="Txt 277"/>
          <p:cNvSpPr txBox="1"/>
          <p:nvPr/>
        </p:nvSpPr>
        <p:spPr>
          <a:xfrm>
            <a:off x="87503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78" name="Rect 278"/>
          <p:cNvSpPr/>
          <p:nvPr/>
        </p:nvSpPr>
        <p:spPr>
          <a:xfrm>
            <a:off x="9931400" y="36068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Txt 279"/>
          <p:cNvSpPr txBox="1"/>
          <p:nvPr/>
        </p:nvSpPr>
        <p:spPr>
          <a:xfrm>
            <a:off x="9956800" y="36703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80" name="Rect 280"/>
          <p:cNvSpPr/>
          <p:nvPr/>
        </p:nvSpPr>
        <p:spPr>
          <a:xfrm>
            <a:off x="279400" y="4152900"/>
            <a:ext cx="24130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1" name="Txt 281"/>
          <p:cNvSpPr txBox="1"/>
          <p:nvPr/>
        </p:nvSpPr>
        <p:spPr>
          <a:xfrm>
            <a:off x="317500" y="42164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Liabilities / Loan Tracking</a:t>
            </a:r>
          </a:p>
        </p:txBody>
      </p:sp>
      <p:sp>
        <p:nvSpPr>
          <p:cNvPr id="282" name="Rect 282"/>
          <p:cNvSpPr/>
          <p:nvPr/>
        </p:nvSpPr>
        <p:spPr>
          <a:xfrm>
            <a:off x="26924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3" name="Txt 283"/>
          <p:cNvSpPr txBox="1"/>
          <p:nvPr/>
        </p:nvSpPr>
        <p:spPr>
          <a:xfrm>
            <a:off x="27178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84" name="Rect 284"/>
          <p:cNvSpPr/>
          <p:nvPr/>
        </p:nvSpPr>
        <p:spPr>
          <a:xfrm>
            <a:off x="38989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5" name="Txt 285"/>
          <p:cNvSpPr txBox="1"/>
          <p:nvPr/>
        </p:nvSpPr>
        <p:spPr>
          <a:xfrm>
            <a:off x="39243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86" name="Rect 286"/>
          <p:cNvSpPr/>
          <p:nvPr/>
        </p:nvSpPr>
        <p:spPr>
          <a:xfrm>
            <a:off x="51054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7" name="Txt 287"/>
          <p:cNvSpPr txBox="1"/>
          <p:nvPr/>
        </p:nvSpPr>
        <p:spPr>
          <a:xfrm>
            <a:off x="51308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88" name="Rect 288"/>
          <p:cNvSpPr/>
          <p:nvPr/>
        </p:nvSpPr>
        <p:spPr>
          <a:xfrm>
            <a:off x="63119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9" name="Txt 289"/>
          <p:cNvSpPr txBox="1"/>
          <p:nvPr/>
        </p:nvSpPr>
        <p:spPr>
          <a:xfrm>
            <a:off x="63373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90" name="Rect 290"/>
          <p:cNvSpPr/>
          <p:nvPr/>
        </p:nvSpPr>
        <p:spPr>
          <a:xfrm>
            <a:off x="75184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1" name="Txt 291"/>
          <p:cNvSpPr txBox="1"/>
          <p:nvPr/>
        </p:nvSpPr>
        <p:spPr>
          <a:xfrm>
            <a:off x="75438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92" name="Rect 292"/>
          <p:cNvSpPr/>
          <p:nvPr/>
        </p:nvSpPr>
        <p:spPr>
          <a:xfrm>
            <a:off x="87249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3" name="Txt 293"/>
          <p:cNvSpPr txBox="1"/>
          <p:nvPr/>
        </p:nvSpPr>
        <p:spPr>
          <a:xfrm>
            <a:off x="87503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94" name="Rect 294"/>
          <p:cNvSpPr/>
          <p:nvPr/>
        </p:nvSpPr>
        <p:spPr>
          <a:xfrm>
            <a:off x="9931400" y="41529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5" name="Txt 295"/>
          <p:cNvSpPr txBox="1"/>
          <p:nvPr/>
        </p:nvSpPr>
        <p:spPr>
          <a:xfrm>
            <a:off x="9956800" y="42164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296" name="Rect 296"/>
          <p:cNvSpPr/>
          <p:nvPr/>
        </p:nvSpPr>
        <p:spPr>
          <a:xfrm>
            <a:off x="279400" y="4699000"/>
            <a:ext cx="24130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7" name="Txt 297"/>
          <p:cNvSpPr txBox="1"/>
          <p:nvPr/>
        </p:nvSpPr>
        <p:spPr>
          <a:xfrm>
            <a:off x="317500" y="47625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Net Worth Projection (5Y)</a:t>
            </a:r>
          </a:p>
        </p:txBody>
      </p:sp>
      <p:sp>
        <p:nvSpPr>
          <p:cNvPr id="298" name="Rect 298"/>
          <p:cNvSpPr/>
          <p:nvPr/>
        </p:nvSpPr>
        <p:spPr>
          <a:xfrm>
            <a:off x="26924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9" name="Txt 299"/>
          <p:cNvSpPr txBox="1"/>
          <p:nvPr/>
        </p:nvSpPr>
        <p:spPr>
          <a:xfrm>
            <a:off x="27178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300" name="Rect 300"/>
          <p:cNvSpPr/>
          <p:nvPr/>
        </p:nvSpPr>
        <p:spPr>
          <a:xfrm>
            <a:off x="38989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Txt 301"/>
          <p:cNvSpPr txBox="1"/>
          <p:nvPr/>
        </p:nvSpPr>
        <p:spPr>
          <a:xfrm>
            <a:off x="39243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02" name="Rect 302"/>
          <p:cNvSpPr/>
          <p:nvPr/>
        </p:nvSpPr>
        <p:spPr>
          <a:xfrm>
            <a:off x="51054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Txt 303"/>
          <p:cNvSpPr txBox="1"/>
          <p:nvPr/>
        </p:nvSpPr>
        <p:spPr>
          <a:xfrm>
            <a:off x="51308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04" name="Rect 304"/>
          <p:cNvSpPr/>
          <p:nvPr/>
        </p:nvSpPr>
        <p:spPr>
          <a:xfrm>
            <a:off x="63119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Txt 305"/>
          <p:cNvSpPr txBox="1"/>
          <p:nvPr/>
        </p:nvSpPr>
        <p:spPr>
          <a:xfrm>
            <a:off x="63373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06" name="Rect 306"/>
          <p:cNvSpPr/>
          <p:nvPr/>
        </p:nvSpPr>
        <p:spPr>
          <a:xfrm>
            <a:off x="75184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Txt 307"/>
          <p:cNvSpPr txBox="1"/>
          <p:nvPr/>
        </p:nvSpPr>
        <p:spPr>
          <a:xfrm>
            <a:off x="75438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08" name="Rect 308"/>
          <p:cNvSpPr/>
          <p:nvPr/>
        </p:nvSpPr>
        <p:spPr>
          <a:xfrm>
            <a:off x="87249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Txt 309"/>
          <p:cNvSpPr txBox="1"/>
          <p:nvPr/>
        </p:nvSpPr>
        <p:spPr>
          <a:xfrm>
            <a:off x="87503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10" name="Rect 310"/>
          <p:cNvSpPr/>
          <p:nvPr/>
        </p:nvSpPr>
        <p:spPr>
          <a:xfrm>
            <a:off x="9931400" y="46990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Txt 311"/>
          <p:cNvSpPr txBox="1"/>
          <p:nvPr/>
        </p:nvSpPr>
        <p:spPr>
          <a:xfrm>
            <a:off x="9956800" y="47625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12" name="Rect 312"/>
          <p:cNvSpPr/>
          <p:nvPr/>
        </p:nvSpPr>
        <p:spPr>
          <a:xfrm>
            <a:off x="279400" y="5245100"/>
            <a:ext cx="24130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3" name="Txt 313"/>
          <p:cNvSpPr txBox="1"/>
          <p:nvPr/>
        </p:nvSpPr>
        <p:spPr>
          <a:xfrm>
            <a:off x="317500" y="53086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AI-Powered SMS Expense Capture</a:t>
            </a:r>
          </a:p>
        </p:txBody>
      </p:sp>
      <p:sp>
        <p:nvSpPr>
          <p:cNvPr id="314" name="Rect 314"/>
          <p:cNvSpPr/>
          <p:nvPr/>
        </p:nvSpPr>
        <p:spPr>
          <a:xfrm>
            <a:off x="26924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Txt 315"/>
          <p:cNvSpPr txBox="1"/>
          <p:nvPr/>
        </p:nvSpPr>
        <p:spPr>
          <a:xfrm>
            <a:off x="27178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316" name="Rect 316"/>
          <p:cNvSpPr/>
          <p:nvPr/>
        </p:nvSpPr>
        <p:spPr>
          <a:xfrm>
            <a:off x="38989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7" name="Txt 317"/>
          <p:cNvSpPr txBox="1"/>
          <p:nvPr/>
        </p:nvSpPr>
        <p:spPr>
          <a:xfrm>
            <a:off x="39243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18" name="Rect 318"/>
          <p:cNvSpPr/>
          <p:nvPr/>
        </p:nvSpPr>
        <p:spPr>
          <a:xfrm>
            <a:off x="51054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9" name="Txt 319"/>
          <p:cNvSpPr txBox="1"/>
          <p:nvPr/>
        </p:nvSpPr>
        <p:spPr>
          <a:xfrm>
            <a:off x="51308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20" name="Rect 320"/>
          <p:cNvSpPr/>
          <p:nvPr/>
        </p:nvSpPr>
        <p:spPr>
          <a:xfrm>
            <a:off x="63119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1" name="Txt 321"/>
          <p:cNvSpPr txBox="1"/>
          <p:nvPr/>
        </p:nvSpPr>
        <p:spPr>
          <a:xfrm>
            <a:off x="63373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F5A623"/>
                </a:solidFill>
                <a:latin typeface="Calibri"/>
              </a:rPr>
              <a:t>⚠️</a:t>
            </a:r>
          </a:p>
        </p:txBody>
      </p:sp>
      <p:sp>
        <p:nvSpPr>
          <p:cNvPr id="322" name="Rect 322"/>
          <p:cNvSpPr/>
          <p:nvPr/>
        </p:nvSpPr>
        <p:spPr>
          <a:xfrm>
            <a:off x="75184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3" name="Txt 323"/>
          <p:cNvSpPr txBox="1"/>
          <p:nvPr/>
        </p:nvSpPr>
        <p:spPr>
          <a:xfrm>
            <a:off x="75438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24" name="Rect 324"/>
          <p:cNvSpPr/>
          <p:nvPr/>
        </p:nvSpPr>
        <p:spPr>
          <a:xfrm>
            <a:off x="87249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5" name="Txt 325"/>
          <p:cNvSpPr txBox="1"/>
          <p:nvPr/>
        </p:nvSpPr>
        <p:spPr>
          <a:xfrm>
            <a:off x="87503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F5A623"/>
                </a:solidFill>
                <a:latin typeface="Calibri"/>
              </a:rPr>
              <a:t>⚠️</a:t>
            </a:r>
          </a:p>
        </p:txBody>
      </p:sp>
      <p:sp>
        <p:nvSpPr>
          <p:cNvPr id="326" name="Rect 326"/>
          <p:cNvSpPr/>
          <p:nvPr/>
        </p:nvSpPr>
        <p:spPr>
          <a:xfrm>
            <a:off x="9931400" y="5245100"/>
            <a:ext cx="1206500" cy="508000"/>
          </a:xfrm>
          <a:prstGeom prst="rect">
            <a:avLst/>
          </a:prstGeom>
          <a:solidFill>
            <a:srgbClr val="141E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7" name="Txt 327"/>
          <p:cNvSpPr txBox="1"/>
          <p:nvPr/>
        </p:nvSpPr>
        <p:spPr>
          <a:xfrm>
            <a:off x="9956800" y="53086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28" name="Rect 328"/>
          <p:cNvSpPr/>
          <p:nvPr/>
        </p:nvSpPr>
        <p:spPr>
          <a:xfrm>
            <a:off x="279400" y="5791200"/>
            <a:ext cx="24130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9" name="Txt 329"/>
          <p:cNvSpPr txBox="1"/>
          <p:nvPr/>
        </p:nvSpPr>
        <p:spPr>
          <a:xfrm>
            <a:off x="317500" y="5854700"/>
            <a:ext cx="233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l"/>
            <a:r>
              <a:rPr lang="en-US" sz="1000" b="0" i="0" dirty="0">
                <a:solidFill>
                  <a:srgbClr val="F5A623"/>
                </a:solidFill>
                <a:latin typeface="Calibri"/>
              </a:rPr>
              <a:t>Unified Net Worth Dashboard</a:t>
            </a:r>
          </a:p>
        </p:txBody>
      </p:sp>
      <p:sp>
        <p:nvSpPr>
          <p:cNvPr id="330" name="Rect 330"/>
          <p:cNvSpPr/>
          <p:nvPr/>
        </p:nvSpPr>
        <p:spPr>
          <a:xfrm>
            <a:off x="26924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1" name="Txt 331"/>
          <p:cNvSpPr txBox="1"/>
          <p:nvPr/>
        </p:nvSpPr>
        <p:spPr>
          <a:xfrm>
            <a:off x="27178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1" i="0" dirty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332" name="Rect 332"/>
          <p:cNvSpPr/>
          <p:nvPr/>
        </p:nvSpPr>
        <p:spPr>
          <a:xfrm>
            <a:off x="38989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3" name="Txt 333"/>
          <p:cNvSpPr txBox="1"/>
          <p:nvPr/>
        </p:nvSpPr>
        <p:spPr>
          <a:xfrm>
            <a:off x="39243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34" name="Rect 334"/>
          <p:cNvSpPr/>
          <p:nvPr/>
        </p:nvSpPr>
        <p:spPr>
          <a:xfrm>
            <a:off x="51054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5" name="Txt 335"/>
          <p:cNvSpPr txBox="1"/>
          <p:nvPr/>
        </p:nvSpPr>
        <p:spPr>
          <a:xfrm>
            <a:off x="51308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F5A623"/>
                </a:solidFill>
                <a:latin typeface="Calibri"/>
              </a:rPr>
              <a:t>⚠️</a:t>
            </a:r>
          </a:p>
        </p:txBody>
      </p:sp>
      <p:sp>
        <p:nvSpPr>
          <p:cNvPr id="336" name="Rect 336"/>
          <p:cNvSpPr/>
          <p:nvPr/>
        </p:nvSpPr>
        <p:spPr>
          <a:xfrm>
            <a:off x="63119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7" name="Txt 337"/>
          <p:cNvSpPr txBox="1"/>
          <p:nvPr/>
        </p:nvSpPr>
        <p:spPr>
          <a:xfrm>
            <a:off x="63373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38" name="Rect 338"/>
          <p:cNvSpPr/>
          <p:nvPr/>
        </p:nvSpPr>
        <p:spPr>
          <a:xfrm>
            <a:off x="75184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9" name="Txt 339"/>
          <p:cNvSpPr txBox="1"/>
          <p:nvPr/>
        </p:nvSpPr>
        <p:spPr>
          <a:xfrm>
            <a:off x="75438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40" name="Rect 340"/>
          <p:cNvSpPr/>
          <p:nvPr/>
        </p:nvSpPr>
        <p:spPr>
          <a:xfrm>
            <a:off x="87249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1" name="Txt 341"/>
          <p:cNvSpPr txBox="1"/>
          <p:nvPr/>
        </p:nvSpPr>
        <p:spPr>
          <a:xfrm>
            <a:off x="87503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42" name="Rect 342"/>
          <p:cNvSpPr/>
          <p:nvPr/>
        </p:nvSpPr>
        <p:spPr>
          <a:xfrm>
            <a:off x="9931400" y="5791200"/>
            <a:ext cx="1206500" cy="508000"/>
          </a:xfrm>
          <a:prstGeom prst="rect">
            <a:avLst/>
          </a:prstGeom>
          <a:solidFill>
            <a:srgbClr val="0F172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3" name="Txt 343"/>
          <p:cNvSpPr txBox="1"/>
          <p:nvPr/>
        </p:nvSpPr>
        <p:spPr>
          <a:xfrm>
            <a:off x="9956800" y="5854700"/>
            <a:ext cx="115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en-US" sz="1100" b="0" i="0" dirty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94909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From MVP to Market Leader — 18-Month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2588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49377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Phase 1
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Play Store launch (public beta)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Push notifications &amp; price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Offline mode with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Onboarding flow &amp; tutorial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9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500 beta users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508760"/>
            <a:ext cx="2743200" cy="49377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1508760"/>
            <a:ext cx="2743200" cy="10972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6916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  <a:latin typeface="Calibri"/>
              </a:rPr>
              <a:t>Phase 2
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2316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Premium subscription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LTCG tax report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862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Portfolio rebalancing suggestions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177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Crypto holdings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349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Zerodha affiliate integration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508760"/>
            <a:ext cx="2743200" cy="49377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150876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6916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Phase 3
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42316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Family / multi-user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SEBI RIA advisory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8862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Web dashboard (React)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177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Insurance tracking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49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B2B white-label 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508760"/>
            <a:ext cx="2743200" cy="493776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98280" y="1508760"/>
            <a:ext cx="2743200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16916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59B6"/>
                </a:solidFill>
                <a:latin typeface="Calibri"/>
              </a:rPr>
              <a:t>Phase 4
Q1-2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42316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10,000 paid subscribers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API access tier 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8862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iOS app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6177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Series A fundraise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349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Pan-India marketing push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A623"/>
                </a:solidFill>
                <a:latin typeface="Calibri"/>
              </a:rPr>
              <a:t>Seed Round: ₹1.5 Crore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1371600"/>
            <a:ext cx="11457614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Use of Funds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5760720" cy="86868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91440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40%  ₹60L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848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2 senior developers, iOS port, web dashboard, infra scaling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760720" cy="86868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91440" cy="8686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044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25%  ₹37.5L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44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56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Play Store launch, content marketing, influencer partnerships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760720" cy="86868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91440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05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20%  ₹30L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005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Compliance &amp; 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16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SEBI RIA registration, data privacy, security audits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5760720" cy="86868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892040"/>
            <a:ext cx="91440" cy="868680"/>
          </a:xfrm>
          <a:prstGeom prst="rect">
            <a:avLst/>
          </a:prstGeom>
          <a:solidFill>
            <a:srgbClr val="B0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965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8CC"/>
                </a:solidFill>
                <a:latin typeface="Calibri"/>
              </a:rPr>
              <a:t>15%  ₹22.5L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9651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 &amp; Runway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766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18-month founder + team runway, cloud infra, API costs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508760"/>
            <a:ext cx="5303520" cy="457200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What Investors 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🎯  Equity stake in India's most complete personal wealth app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📊  Working MVP — zero technical risk on core product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🔑  Zerodha integration gives immediate access to 14M users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📈  3 proven revenue streams, multiple expansion paths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🇮🇳  Riding India's retail investor boom (50M+ and growing)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🤖  AI + automation moat — hard to replicate quickly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📅  18-month runway to Series A milestones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A623"/>
                </a:solidFill>
                <a:latin typeface="Calibri Light"/>
              </a:rPr>
              <a:t>WealthPulse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Every Indian Investor Deserves to See Their True Wealth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7238" y="3017520"/>
            <a:ext cx="6094476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880"/>
                </a:solidFill>
                <a:latin typeface="Calibri"/>
              </a:rPr>
              <a:t>Let's build India's #1 wealth management platform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931920"/>
            <a:ext cx="5212080" cy="2011680"/>
          </a:xfrm>
          <a:prstGeom prst="rect">
            <a:avLst/>
          </a:prstGeom>
          <a:solidFill>
            <a:srgbClr val="16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Get in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177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📧  [your.email@domain.com]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📱  [+91-XXXXX-XXXXX]</a:t>
            </a:r>
          </a:p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🌐  [github / portfolio link]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8C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A82C9C-8E6E-40D7-A1B1-3195C5B4BB03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1388</Words>
  <Application>Microsoft Office PowerPoint</Application>
  <PresentationFormat>Custom</PresentationFormat>
  <Paragraphs>275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Tanmay Rane</cp:lastModifiedBy>
  <cp:revision>2</cp:revision>
  <dcterms:created xsi:type="dcterms:W3CDTF">2013-01-27T09:14:16Z</dcterms:created>
  <dcterms:modified xsi:type="dcterms:W3CDTF">2026-03-30T05:56:45Z</dcterms:modified>
  <cp:category/>
</cp:coreProperties>
</file>